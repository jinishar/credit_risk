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78638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Segoe UI"/>
              </a:rPr>
              <a:t>NEOSTATS  ·  AI ENGINEER USE CASE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37160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4600" b="1">
                <a:solidFill>
                  <a:srgbClr val="F4F7FB"/>
                </a:solidFill>
                <a:latin typeface="Segoe UI Light"/>
              </a:rPr>
              <a:t>AI-Powered Credit Risk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4600" b="1">
                <a:solidFill>
                  <a:srgbClr val="F4F7FB"/>
                </a:solidFill>
                <a:latin typeface="Segoe UI Light"/>
              </a:rPr>
              <a:t>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063240"/>
            <a:ext cx="9875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94A3B8"/>
                </a:solidFill>
                <a:latin typeface="Segoe UI"/>
              </a:rPr>
              <a:t>An end-to-end credit-risk solution on the Home Credit Default Risk dataset — calibrated ML scoring, SHAP explainability, model-derived business rules, and an LLM natural-language → SQL interface, delivered as one interactive application.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4480560"/>
            <a:ext cx="2514600" cy="1371600"/>
          </a:xfrm>
          <a:prstGeom prst="roundRect">
            <a:avLst>
              <a:gd name="adj" fmla="val 10000"/>
            </a:avLst>
          </a:prstGeom>
          <a:solidFill>
            <a:srgbClr val="121B2D"/>
          </a:solidFill>
          <a:ln w="12700">
            <a:solidFill>
              <a:srgbClr val="24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4480560"/>
            <a:ext cx="64008" cy="13716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636008"/>
            <a:ext cx="2148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700" b="1">
                <a:solidFill>
                  <a:srgbClr val="F4F7FB"/>
                </a:solidFill>
                <a:latin typeface="Segoe UI Light"/>
              </a:rPr>
              <a:t>307,511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5321808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1">
                <a:solidFill>
                  <a:srgbClr val="94A3B8"/>
                </a:solidFill>
                <a:latin typeface="Segoe UI"/>
              </a:rPr>
              <a:t>APPLICANTS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9584" y="4480560"/>
            <a:ext cx="2514600" cy="1371600"/>
          </a:xfrm>
          <a:prstGeom prst="roundRect">
            <a:avLst>
              <a:gd name="adj" fmla="val 10000"/>
            </a:avLst>
          </a:prstGeom>
          <a:solidFill>
            <a:srgbClr val="121B2D"/>
          </a:solidFill>
          <a:ln w="12700">
            <a:solidFill>
              <a:srgbClr val="24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9584" y="4480560"/>
            <a:ext cx="64008" cy="13716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4636008"/>
            <a:ext cx="2148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700" b="1">
                <a:solidFill>
                  <a:srgbClr val="F4F7FB"/>
                </a:solidFill>
                <a:latin typeface="Segoe UI Light"/>
              </a:rPr>
              <a:t>0.763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3904" y="5321808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1">
                <a:solidFill>
                  <a:srgbClr val="94A3B8"/>
                </a:solidFill>
                <a:latin typeface="Segoe UI"/>
              </a:rPr>
              <a:t>ROC-AUC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480560"/>
            <a:ext cx="2514600" cy="1371600"/>
          </a:xfrm>
          <a:prstGeom prst="roundRect">
            <a:avLst>
              <a:gd name="adj" fmla="val 10000"/>
            </a:avLst>
          </a:prstGeom>
          <a:solidFill>
            <a:srgbClr val="121B2D"/>
          </a:solidFill>
          <a:ln w="12700">
            <a:solidFill>
              <a:srgbClr val="24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4480560"/>
            <a:ext cx="64008" cy="13716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4636008"/>
            <a:ext cx="2148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700" b="1">
                <a:solidFill>
                  <a:srgbClr val="F4F7FB"/>
                </a:solidFill>
                <a:latin typeface="Segoe UI Light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321808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1">
                <a:solidFill>
                  <a:srgbClr val="94A3B8"/>
                </a:solidFill>
                <a:latin typeface="Segoe UI"/>
              </a:rPr>
              <a:t>INTEGRATED MODULES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6256" y="4480560"/>
            <a:ext cx="2514600" cy="1371600"/>
          </a:xfrm>
          <a:prstGeom prst="roundRect">
            <a:avLst>
              <a:gd name="adj" fmla="val 10000"/>
            </a:avLst>
          </a:prstGeom>
          <a:solidFill>
            <a:srgbClr val="121B2D"/>
          </a:solidFill>
          <a:ln w="12700">
            <a:solidFill>
              <a:srgbClr val="24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06256" y="4480560"/>
            <a:ext cx="64008" cy="13716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62288" y="4636008"/>
            <a:ext cx="2148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700" b="1">
                <a:solidFill>
                  <a:srgbClr val="F4F7FB"/>
                </a:solidFill>
                <a:latin typeface="Segoe UI Light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576" y="5321808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1">
                <a:solidFill>
                  <a:srgbClr val="94A3B8"/>
                </a:solidFill>
                <a:latin typeface="Segoe UI"/>
              </a:rPr>
              <a:t>DOCKER COMMAND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623620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>
                <a:solidFill>
                  <a:srgbClr val="F4F7FB"/>
                </a:solidFill>
                <a:latin typeface="Segoe UI"/>
              </a:rPr>
              <a:t>Jinisha Leema Rosario</a:t>
            </a:r>
            <a:r>
              <a:rPr sz="1100" b="0">
                <a:solidFill>
                  <a:srgbClr val="94A3B8"/>
                </a:solidFill>
                <a:latin typeface="Segoe UI"/>
              </a:rPr>
              <a:t>     AI / ML  ·  Data Science  ·  Generative AI</a:t>
            </a:r>
            <a:r>
              <a:rPr sz="1100" b="0">
                <a:solidFill>
                  <a:srgbClr val="64748B"/>
                </a:solidFill>
                <a:latin typeface="Segoe UI"/>
              </a:rPr>
              <a:t>        github.com/jinishar/credit_risk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3504"/>
            <a:ext cx="82296" cy="5669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USE CASE &amp; BUSINESS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96112"/>
            <a:ext cx="10424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3300" b="1">
                <a:solidFill>
                  <a:srgbClr val="F4F7FB"/>
                </a:solidFill>
                <a:latin typeface="Segoe UI Light"/>
              </a:rPr>
              <a:t>Credit decisions must be accurate and explainable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82880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Lenders need default-risk assessment that survives credit-committee review, internal audit, and regulatory scrutiny. A single black-box score does not — the decision has to be traceable and usable by non-technical staff.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880360"/>
            <a:ext cx="5120640" cy="3108960"/>
          </a:xfrm>
          <a:prstGeom prst="roundRect">
            <a:avLst>
              <a:gd name="adj" fmla="val 6000"/>
            </a:avLst>
          </a:prstGeom>
          <a:solidFill>
            <a:srgbClr val="121B2D"/>
          </a:solidFill>
          <a:ln w="12700">
            <a:solidFill>
              <a:srgbClr val="24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108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>
                <a:solidFill>
                  <a:srgbClr val="EF4444"/>
                </a:solidFill>
                <a:latin typeface="Segoe UI"/>
              </a:rPr>
              <a:t>THE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5661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9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— </a:t>
            </a:r>
            <a:r>
              <a:rPr sz="1250">
                <a:solidFill>
                  <a:srgbClr val="94A3B8"/>
                </a:solidFill>
                <a:latin typeface="Segoe UI"/>
              </a:rPr>
              <a:t>Risk teams need a defensible number and the reasons behind it</a:t>
            </a:r>
          </a:p>
          <a:p>
            <a:pPr>
              <a:lnSpc>
                <a:spcPct val="114000"/>
              </a:lnSpc>
              <a:spcAft>
                <a:spcPts val="9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— </a:t>
            </a:r>
            <a:r>
              <a:rPr sz="1250">
                <a:solidFill>
                  <a:srgbClr val="94A3B8"/>
                </a:solidFill>
                <a:latin typeface="Segoe UI"/>
              </a:rPr>
              <a:t>Analysts need readable policy, not model internals</a:t>
            </a:r>
          </a:p>
          <a:p>
            <a:pPr>
              <a:lnSpc>
                <a:spcPct val="114000"/>
              </a:lnSpc>
              <a:spcAft>
                <a:spcPts val="9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— </a:t>
            </a:r>
            <a:r>
              <a:rPr sz="1250">
                <a:solidFill>
                  <a:srgbClr val="94A3B8"/>
                </a:solidFill>
                <a:latin typeface="Segoe UI"/>
              </a:rPr>
              <a:t>Business users need to interrogate data without writing 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2880360"/>
            <a:ext cx="5120640" cy="3108960"/>
          </a:xfrm>
          <a:prstGeom prst="roundRect">
            <a:avLst>
              <a:gd name="adj" fmla="val 6000"/>
            </a:avLst>
          </a:prstGeom>
          <a:solidFill>
            <a:srgbClr val="121B2D"/>
          </a:solidFill>
          <a:ln w="12700">
            <a:solidFill>
              <a:srgbClr val="24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3108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>
                <a:solidFill>
                  <a:srgbClr val="34D399"/>
                </a:solidFill>
                <a:latin typeface="Segoe UI"/>
              </a:rPr>
              <a:t>WHAT THE PLATFORM DELIVERS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35661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7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— </a:t>
            </a:r>
            <a:r>
              <a:rPr sz="1250">
                <a:solidFill>
                  <a:srgbClr val="94A3B8"/>
                </a:solidFill>
                <a:latin typeface="Segoe UI"/>
              </a:rPr>
              <a:t>Calibrated default probability + Low / Medium / High band</a:t>
            </a:r>
          </a:p>
          <a:p>
            <a:pPr>
              <a:lnSpc>
                <a:spcPct val="114000"/>
              </a:lnSpc>
              <a:spcAft>
                <a:spcPts val="7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— </a:t>
            </a:r>
            <a:r>
              <a:rPr sz="1250">
                <a:solidFill>
                  <a:srgbClr val="94A3B8"/>
                </a:solidFill>
                <a:latin typeface="Segoe UI"/>
              </a:rPr>
              <a:t>Per-applicant SHAP reason codes</a:t>
            </a:r>
          </a:p>
          <a:p>
            <a:pPr>
              <a:lnSpc>
                <a:spcPct val="114000"/>
              </a:lnSpc>
              <a:spcAft>
                <a:spcPts val="7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— </a:t>
            </a:r>
            <a:r>
              <a:rPr sz="1250">
                <a:solidFill>
                  <a:srgbClr val="94A3B8"/>
                </a:solidFill>
                <a:latin typeface="Segoe UI"/>
              </a:rPr>
              <a:t>Human-readable risk rules for analyst review</a:t>
            </a:r>
          </a:p>
          <a:p>
            <a:pPr>
              <a:lnSpc>
                <a:spcPct val="114000"/>
              </a:lnSpc>
              <a:spcAft>
                <a:spcPts val="7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— </a:t>
            </a:r>
            <a:r>
              <a:rPr sz="1250">
                <a:solidFill>
                  <a:srgbClr val="94A3B8"/>
                </a:solidFill>
                <a:latin typeface="Segoe UI"/>
              </a:rPr>
              <a:t>Plain-English querying of the applicant data</a:t>
            </a:r>
          </a:p>
          <a:p>
            <a:pPr>
              <a:lnSpc>
                <a:spcPct val="114000"/>
              </a:lnSpc>
              <a:spcAft>
                <a:spcPts val="7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— </a:t>
            </a:r>
            <a:r>
              <a:rPr sz="1250">
                <a:solidFill>
                  <a:srgbClr val="94A3B8"/>
                </a:solidFill>
                <a:latin typeface="Segoe UI"/>
              </a:rPr>
              <a:t>One Streamlit app, reproducible via Docker Compose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642823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Credit Risk Intelligence Platform</a:t>
            </a:r>
            <a:r>
              <a:rPr sz="900" b="0">
                <a:solidFill>
                  <a:srgbClr val="64748B"/>
                </a:solidFill>
                <a:latin typeface="Segoe UI"/>
              </a:rPr>
              <a:t>   ·   NeoStats AI Engineer Use 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3504"/>
            <a:ext cx="82296" cy="5669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HOW IT FITS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96112"/>
            <a:ext cx="10424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3300" b="1">
                <a:solidFill>
                  <a:srgbClr val="F4F7FB"/>
                </a:solidFill>
                <a:latin typeface="Segoe UI Light"/>
              </a:rPr>
              <a:t>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737360"/>
            <a:ext cx="10424160" cy="548640"/>
          </a:xfrm>
          <a:prstGeom prst="roundRect">
            <a:avLst>
              <a:gd name="adj" fmla="val 12000"/>
            </a:avLst>
          </a:prstGeom>
          <a:solidFill>
            <a:srgbClr val="162136"/>
          </a:solidFill>
          <a:ln w="12700">
            <a:solidFill>
              <a:srgbClr val="24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801368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F4F7FB"/>
                </a:solidFill>
                <a:latin typeface="Segoe UI"/>
              </a:rPr>
              <a:t>Home Credit dataset   ·   307K applications   ·   loaded into DuckDB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487168"/>
            <a:ext cx="5120640" cy="2889504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4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487168"/>
            <a:ext cx="5120640" cy="45720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505456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0B111E"/>
                </a:solidFill>
                <a:latin typeface="Segoe UI"/>
              </a:rPr>
              <a:t>ML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072384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>
                <a:solidFill>
                  <a:srgbClr val="94A3B8"/>
                </a:solidFill>
                <a:latin typeface="Segoe UI"/>
              </a:rPr>
              <a:t>Preprocessing &amp; feature engineering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>
                <a:solidFill>
                  <a:srgbClr val="64748B"/>
                </a:solidFill>
                <a:latin typeface="Segoe UI"/>
              </a:rPr>
              <a:t>↓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>
                <a:solidFill>
                  <a:srgbClr val="94A3B8"/>
                </a:solidFill>
                <a:latin typeface="Segoe UI"/>
              </a:rPr>
              <a:t>LightGBM champion  +  Logistic Regression baseline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>
                <a:solidFill>
                  <a:srgbClr val="64748B"/>
                </a:solidFill>
                <a:latin typeface="Segoe UI"/>
              </a:rPr>
              <a:t>↓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>
                <a:solidFill>
                  <a:srgbClr val="94A3B8"/>
                </a:solidFill>
                <a:latin typeface="Segoe UI"/>
              </a:rPr>
              <a:t>Isotonic probability calibration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>
                <a:solidFill>
                  <a:srgbClr val="64748B"/>
                </a:solidFill>
                <a:latin typeface="Segoe UI"/>
              </a:rPr>
              <a:t>↓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>
                <a:solidFill>
                  <a:srgbClr val="94A3B8"/>
                </a:solidFill>
                <a:latin typeface="Segoe UI"/>
              </a:rPr>
              <a:t>Risk bands  ·  SHAP explanations  ·  surrogate rules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2487168"/>
            <a:ext cx="5120640" cy="2889504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4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53912" y="2487168"/>
            <a:ext cx="5120640" cy="457200"/>
          </a:xfrm>
          <a:prstGeom prst="roundRect">
            <a:avLst>
              <a:gd name="adj" fmla="val 5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2505456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0B111E"/>
                </a:solidFill>
                <a:latin typeface="Segoe UI"/>
              </a:rPr>
              <a:t>TALK-TO-DATA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3072384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>
                <a:solidFill>
                  <a:srgbClr val="94A3B8"/>
                </a:solidFill>
                <a:latin typeface="Segoe UI"/>
              </a:rPr>
              <a:t>Schema-grounded prompt context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>
                <a:solidFill>
                  <a:srgbClr val="64748B"/>
                </a:solidFill>
                <a:latin typeface="Segoe UI"/>
              </a:rPr>
              <a:t>↓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>
                <a:solidFill>
                  <a:srgbClr val="94A3B8"/>
                </a:solidFill>
                <a:latin typeface="Segoe UI"/>
              </a:rPr>
              <a:t>Gemini  NL → SQL  generation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>
                <a:solidFill>
                  <a:srgbClr val="64748B"/>
                </a:solidFill>
                <a:latin typeface="Segoe UI"/>
              </a:rPr>
              <a:t>↓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>
                <a:solidFill>
                  <a:srgbClr val="94A3B8"/>
                </a:solidFill>
                <a:latin typeface="Segoe UI"/>
              </a:rPr>
              <a:t>Read-only SQL validator (allow-list, row cap)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>
                <a:solidFill>
                  <a:srgbClr val="64748B"/>
                </a:solidFill>
                <a:latin typeface="Segoe UI"/>
              </a:rPr>
              <a:t>↓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>
                <a:solidFill>
                  <a:srgbClr val="94A3B8"/>
                </a:solidFill>
                <a:latin typeface="Segoe UI"/>
              </a:rPr>
              <a:t>DuckDB query  →  business-readable answer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5541264"/>
            <a:ext cx="10424160" cy="475488"/>
          </a:xfrm>
          <a:prstGeom prst="roundRect">
            <a:avLst>
              <a:gd name="adj" fmla="val 14000"/>
            </a:avLst>
          </a:prstGeom>
          <a:solidFill>
            <a:srgbClr val="162136"/>
          </a:solidFill>
          <a:ln w="12700">
            <a:solidFill>
              <a:srgbClr val="24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614416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1">
                <a:solidFill>
                  <a:srgbClr val="F4F7FB"/>
                </a:solidFill>
                <a:latin typeface="Segoe UI"/>
              </a:rPr>
              <a:t>Streamlit UI   ·   packaged with Docker Compose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642823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Credit Risk Intelligence Platform</a:t>
            </a:r>
            <a:r>
              <a:rPr sz="900" b="0">
                <a:solidFill>
                  <a:srgbClr val="64748B"/>
                </a:solidFill>
                <a:latin typeface="Segoe UI"/>
              </a:rPr>
              <a:t>   ·   NeoStats AI Engineer Use Case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2823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3504"/>
            <a:ext cx="82296" cy="5669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96112"/>
            <a:ext cx="10424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2700" b="1">
                <a:solidFill>
                  <a:srgbClr val="F4F7FB"/>
                </a:solidFill>
                <a:latin typeface="Segoe UI Light"/>
              </a:rPr>
              <a:t>307K applications, ~8% default — a hard class imbalance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965960"/>
            <a:ext cx="4160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13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— </a:t>
            </a:r>
            <a:r>
              <a:rPr sz="1250" b="1">
                <a:solidFill>
                  <a:srgbClr val="F4F7FB"/>
                </a:solidFill>
                <a:latin typeface="Segoe UI"/>
              </a:rPr>
              <a:t>Imbalance. </a:t>
            </a:r>
            <a:r>
              <a:rPr sz="1250">
                <a:solidFill>
                  <a:srgbClr val="94A3B8"/>
                </a:solidFill>
                <a:latin typeface="Segoe UI"/>
              </a:rPr>
              <a:t>~8% positives — ROC-AUC / PR-AUC, not accuracy, drive evaluation</a:t>
            </a:r>
          </a:p>
          <a:p>
            <a:pPr>
              <a:lnSpc>
                <a:spcPct val="114000"/>
              </a:lnSpc>
              <a:spcAft>
                <a:spcPts val="13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— </a:t>
            </a:r>
            <a:r>
              <a:rPr sz="1250" b="1">
                <a:solidFill>
                  <a:srgbClr val="F4F7FB"/>
                </a:solidFill>
                <a:latin typeface="Segoe UI"/>
              </a:rPr>
              <a:t>Missingness. </a:t>
            </a:r>
            <a:r>
              <a:rPr sz="1250">
                <a:solidFill>
                  <a:srgbClr val="94A3B8"/>
                </a:solidFill>
                <a:latin typeface="Segoe UI"/>
              </a:rPr>
              <a:t>up to ~70% in housing columns; kept as signal, not imputed away</a:t>
            </a:r>
          </a:p>
          <a:p>
            <a:pPr>
              <a:lnSpc>
                <a:spcPct val="114000"/>
              </a:lnSpc>
              <a:spcAft>
                <a:spcPts val="13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— </a:t>
            </a:r>
            <a:r>
              <a:rPr sz="1250" b="1">
                <a:solidFill>
                  <a:srgbClr val="F4F7FB"/>
                </a:solidFill>
                <a:latin typeface="Segoe UI"/>
              </a:rPr>
              <a:t>Anomaly. </a:t>
            </a:r>
            <a:r>
              <a:rPr sz="1250">
                <a:solidFill>
                  <a:srgbClr val="94A3B8"/>
                </a:solidFill>
                <a:latin typeface="Segoe UI"/>
              </a:rPr>
              <a:t>~18% of rows carry a ‘not employed’ placeholder → explicit flag</a:t>
            </a:r>
          </a:p>
          <a:p>
            <a:pPr>
              <a:lnSpc>
                <a:spcPct val="114000"/>
              </a:lnSpc>
              <a:spcAft>
                <a:spcPts val="13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— </a:t>
            </a:r>
            <a:r>
              <a:rPr sz="1250" b="1">
                <a:solidFill>
                  <a:srgbClr val="F4F7FB"/>
                </a:solidFill>
                <a:latin typeface="Segoe UI"/>
              </a:rPr>
              <a:t>Every finding </a:t>
            </a:r>
            <a:r>
              <a:rPr sz="1250">
                <a:solidFill>
                  <a:srgbClr val="94A3B8"/>
                </a:solidFill>
                <a:latin typeface="Segoe UI"/>
              </a:rPr>
              <a:t>is an exploratory association, not a causal claim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02936" y="1819655"/>
            <a:ext cx="6419088" cy="3078451"/>
          </a:xfrm>
          <a:prstGeom prst="roundRect">
            <a:avLst>
              <a:gd name="adj" fmla="val 3000"/>
            </a:avLst>
          </a:prstGeom>
          <a:solidFill>
            <a:srgbClr val="121B2D"/>
          </a:solidFill>
          <a:ln w="12700">
            <a:solidFill>
              <a:srgbClr val="24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874519"/>
            <a:ext cx="6309360" cy="29687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" y="642823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Credit Risk Intelligence Platform</a:t>
            </a:r>
            <a:r>
              <a:rPr sz="900" b="0">
                <a:solidFill>
                  <a:srgbClr val="64748B"/>
                </a:solidFill>
                <a:latin typeface="Segoe UI"/>
              </a:rPr>
              <a:t>   ·   NeoStats AI Engineer Use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2823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3504"/>
            <a:ext cx="82296" cy="5669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96112"/>
            <a:ext cx="10424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2700" b="1">
                <a:solidFill>
                  <a:srgbClr val="F4F7FB"/>
                </a:solidFill>
                <a:latin typeface="Segoe UI Light"/>
              </a:rPr>
              <a:t>External credit scores are the strongest default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965960"/>
            <a:ext cx="4160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13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— </a:t>
            </a:r>
            <a:r>
              <a:rPr sz="1250" b="1">
                <a:solidFill>
                  <a:srgbClr val="F4F7FB"/>
                </a:solidFill>
                <a:latin typeface="Segoe UI"/>
              </a:rPr>
              <a:t>EXT_SOURCE. </a:t>
            </a:r>
            <a:r>
              <a:rPr sz="1250">
                <a:solidFill>
                  <a:srgbClr val="94A3B8"/>
                </a:solidFill>
                <a:latin typeface="Segoe UI"/>
              </a:rPr>
              <a:t>19.9% → 2.6% default across score deciles</a:t>
            </a:r>
          </a:p>
          <a:p>
            <a:pPr>
              <a:lnSpc>
                <a:spcPct val="114000"/>
              </a:lnSpc>
              <a:spcAft>
                <a:spcPts val="13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— </a:t>
            </a:r>
            <a:r>
              <a:rPr sz="1250" b="1">
                <a:solidFill>
                  <a:srgbClr val="F4F7FB"/>
                </a:solidFill>
                <a:latin typeface="Segoe UI"/>
              </a:rPr>
              <a:t>Age. </a:t>
            </a:r>
            <a:r>
              <a:rPr sz="1250">
                <a:solidFill>
                  <a:srgbClr val="94A3B8"/>
                </a:solidFill>
                <a:latin typeface="Segoe UI"/>
              </a:rPr>
              <a:t>risk falls steadily; 18–25 highest</a:t>
            </a:r>
          </a:p>
          <a:p>
            <a:pPr>
              <a:lnSpc>
                <a:spcPct val="114000"/>
              </a:lnSpc>
              <a:spcAft>
                <a:spcPts val="13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— </a:t>
            </a:r>
            <a:r>
              <a:rPr sz="1250" b="1">
                <a:solidFill>
                  <a:srgbClr val="F4F7FB"/>
                </a:solidFill>
                <a:latin typeface="Segoe UI"/>
              </a:rPr>
              <a:t>Education. </a:t>
            </a:r>
            <a:r>
              <a:rPr sz="1250">
                <a:solidFill>
                  <a:srgbClr val="94A3B8"/>
                </a:solidFill>
                <a:latin typeface="Segoe UI"/>
              </a:rPr>
              <a:t>10.9% lower-secondary vs 1.8% academic degree</a:t>
            </a:r>
          </a:p>
          <a:p>
            <a:pPr>
              <a:lnSpc>
                <a:spcPct val="114000"/>
              </a:lnSpc>
              <a:spcAft>
                <a:spcPts val="13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— </a:t>
            </a:r>
            <a:r>
              <a:rPr sz="1250" b="1">
                <a:solidFill>
                  <a:srgbClr val="F4F7FB"/>
                </a:solidFill>
                <a:latin typeface="Segoe UI"/>
              </a:rPr>
              <a:t>Family status </a:t>
            </a:r>
            <a:r>
              <a:rPr sz="1250">
                <a:solidFill>
                  <a:srgbClr val="94A3B8"/>
                </a:solidFill>
                <a:latin typeface="Segoe UI"/>
              </a:rPr>
              <a:t>and car ownership add smaller, consistent gaps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02936" y="1819655"/>
            <a:ext cx="6419088" cy="3094907"/>
          </a:xfrm>
          <a:prstGeom prst="roundRect">
            <a:avLst>
              <a:gd name="adj" fmla="val 3000"/>
            </a:avLst>
          </a:prstGeom>
          <a:solidFill>
            <a:srgbClr val="121B2D"/>
          </a:solidFill>
          <a:ln w="12700">
            <a:solidFill>
              <a:srgbClr val="24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874519"/>
            <a:ext cx="6309360" cy="29851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" y="642823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Credit Risk Intelligence Platform</a:t>
            </a:r>
            <a:r>
              <a:rPr sz="900" b="0">
                <a:solidFill>
                  <a:srgbClr val="64748B"/>
                </a:solidFill>
                <a:latin typeface="Segoe UI"/>
              </a:rPr>
              <a:t>   ·   NeoStats AI Engineer Use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2823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3504"/>
            <a:ext cx="82296" cy="5669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96112"/>
            <a:ext cx="10424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2800" b="1">
                <a:solidFill>
                  <a:srgbClr val="F4F7FB"/>
                </a:solidFill>
                <a:latin typeface="Segoe UI Light"/>
              </a:rPr>
              <a:t>LightGBM champion, calibrated to a real probability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965960"/>
            <a:ext cx="6492240" cy="566928"/>
          </a:xfrm>
          <a:prstGeom prst="roundRect">
            <a:avLst>
              <a:gd name="adj" fmla="val 4000"/>
            </a:avLst>
          </a:prstGeom>
          <a:solidFill>
            <a:srgbClr val="162136"/>
          </a:solidFill>
          <a:ln w="12700">
            <a:solidFill>
              <a:srgbClr val="24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084831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>
                <a:solidFill>
                  <a:srgbClr val="F4F7FB"/>
                </a:solidFill>
                <a:latin typeface="Segoe U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38928" y="2084831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1">
                <a:solidFill>
                  <a:srgbClr val="94A3B8"/>
                </a:solidFill>
                <a:latin typeface="Segoe UI"/>
              </a:rPr>
              <a:t>ROC-AUC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8" y="2084831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1">
                <a:solidFill>
                  <a:srgbClr val="94A3B8"/>
                </a:solidFill>
                <a:latin typeface="Segoe UI"/>
              </a:rPr>
              <a:t>PR-AUC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532888"/>
            <a:ext cx="6492240" cy="566928"/>
          </a:xfrm>
          <a:prstGeom prst="roundRect">
            <a:avLst>
              <a:gd name="adj" fmla="val 4000"/>
            </a:avLst>
          </a:prstGeom>
          <a:solidFill>
            <a:srgbClr val="121B2D"/>
          </a:solidFill>
          <a:ln w="12700">
            <a:solidFill>
              <a:srgbClr val="24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65176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F4F7FB"/>
                </a:solidFill>
                <a:latin typeface="Segoe UI"/>
              </a:rPr>
              <a:t>Logistic Regression  (baseline)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8928" y="265176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F4F7FB"/>
                </a:solidFill>
                <a:latin typeface="Segoe UI"/>
              </a:rPr>
              <a:t>0.750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265176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F4F7FB"/>
                </a:solidFill>
                <a:latin typeface="Segoe UI"/>
              </a:rPr>
              <a:t>0.235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099815"/>
            <a:ext cx="6492240" cy="566928"/>
          </a:xfrm>
          <a:prstGeom prst="roundRect">
            <a:avLst>
              <a:gd name="adj" fmla="val 4000"/>
            </a:avLst>
          </a:prstGeom>
          <a:solidFill>
            <a:srgbClr val="121B2D"/>
          </a:solidFill>
          <a:ln w="12700">
            <a:solidFill>
              <a:srgbClr val="24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" y="3099815"/>
            <a:ext cx="54864" cy="5669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3218687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>
                <a:solidFill>
                  <a:srgbClr val="F4F7FB"/>
                </a:solidFill>
                <a:latin typeface="Segoe UI"/>
              </a:rPr>
              <a:t>LightGBM  +  isotonic calibration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3218687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1">
                <a:solidFill>
                  <a:srgbClr val="F4F7FB"/>
                </a:solidFill>
                <a:latin typeface="Segoe UI"/>
              </a:rPr>
              <a:t>0.763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3218687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1">
                <a:solidFill>
                  <a:srgbClr val="F4F7FB"/>
                </a:solidFill>
                <a:latin typeface="Segoe UI"/>
              </a:rPr>
              <a:t>0.246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3977639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900"/>
              </a:spcAft>
            </a:pPr>
            <a:r>
              <a:rPr sz="1200" b="1">
                <a:solidFill>
                  <a:srgbClr val="3B82F6"/>
                </a:solidFill>
                <a:latin typeface="Segoe UI"/>
              </a:rPr>
              <a:t>— </a:t>
            </a:r>
            <a:r>
              <a:rPr sz="1200" b="1">
                <a:solidFill>
                  <a:srgbClr val="F4F7FB"/>
                </a:solidFill>
                <a:latin typeface="Segoe UI"/>
              </a:rPr>
              <a:t>Class imbalance. </a:t>
            </a:r>
            <a:r>
              <a:rPr sz="1200">
                <a:solidFill>
                  <a:srgbClr val="94A3B8"/>
                </a:solidFill>
                <a:latin typeface="Segoe UI"/>
              </a:rPr>
              <a:t>at ~8% positives, accuracy misleads — ranking metrics select the model</a:t>
            </a:r>
          </a:p>
          <a:p>
            <a:pPr>
              <a:lnSpc>
                <a:spcPct val="114000"/>
              </a:lnSpc>
              <a:spcAft>
                <a:spcPts val="900"/>
              </a:spcAft>
            </a:pPr>
            <a:r>
              <a:rPr sz="1200" b="1">
                <a:solidFill>
                  <a:srgbClr val="3B82F6"/>
                </a:solidFill>
                <a:latin typeface="Segoe UI"/>
              </a:rPr>
              <a:t>— </a:t>
            </a:r>
            <a:r>
              <a:rPr sz="1200" b="1">
                <a:solidFill>
                  <a:srgbClr val="F4F7FB"/>
                </a:solidFill>
                <a:latin typeface="Segoe UI"/>
              </a:rPr>
              <a:t>Calibration. </a:t>
            </a:r>
            <a:r>
              <a:rPr sz="1200">
                <a:solidFill>
                  <a:srgbClr val="94A3B8"/>
                </a:solidFill>
                <a:latin typeface="Segoe UI"/>
              </a:rPr>
              <a:t>isotonic regression anchors scores to the true base rate, so a 0.30 reads as ~30%</a:t>
            </a:r>
          </a:p>
          <a:p>
            <a:pPr>
              <a:lnSpc>
                <a:spcPct val="114000"/>
              </a:lnSpc>
              <a:spcAft>
                <a:spcPts val="900"/>
              </a:spcAft>
            </a:pPr>
            <a:r>
              <a:rPr sz="1200" b="1">
                <a:solidFill>
                  <a:srgbClr val="3B82F6"/>
                </a:solidFill>
                <a:latin typeface="Segoe UI"/>
              </a:rPr>
              <a:t>— </a:t>
            </a:r>
            <a:r>
              <a:rPr sz="1200" b="1">
                <a:solidFill>
                  <a:srgbClr val="F4F7FB"/>
                </a:solidFill>
                <a:latin typeface="Segoe UI"/>
              </a:rPr>
              <a:t>Bands. </a:t>
            </a:r>
            <a:r>
              <a:rPr sz="1200">
                <a:solidFill>
                  <a:srgbClr val="94A3B8"/>
                </a:solidFill>
                <a:latin typeface="Segoe UI"/>
              </a:rPr>
              <a:t>off the calibrated probability — Low &lt; 0.20 · Medium 0.20–0.50 · High ≥ 0.50</a:t>
            </a:r>
          </a:p>
          <a:p>
            <a:pPr>
              <a:lnSpc>
                <a:spcPct val="114000"/>
              </a:lnSpc>
              <a:spcAft>
                <a:spcPts val="900"/>
              </a:spcAft>
            </a:pPr>
            <a:r>
              <a:rPr sz="1200" b="1">
                <a:solidFill>
                  <a:srgbClr val="3B82F6"/>
                </a:solidFill>
                <a:latin typeface="Segoe UI"/>
              </a:rPr>
              <a:t>— </a:t>
            </a:r>
            <a:r>
              <a:rPr sz="1200" b="1">
                <a:solidFill>
                  <a:srgbClr val="F4F7FB"/>
                </a:solidFill>
                <a:latin typeface="Segoe UI"/>
              </a:rPr>
              <a:t>Version-proof scoring. </a:t>
            </a:r>
            <a:r>
              <a:rPr sz="1200">
                <a:solidFill>
                  <a:srgbClr val="94A3B8"/>
                </a:solidFill>
                <a:latin typeface="Segoe UI"/>
              </a:rPr>
              <a:t>calibrator unwrapped and re-applied explicitly at inference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603504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Validation fold: 61,503 applicants  ·  default prevalence 8.07%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642823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Credit Risk Intelligence Platform</a:t>
            </a:r>
            <a:r>
              <a:rPr sz="900" b="0">
                <a:solidFill>
                  <a:srgbClr val="64748B"/>
                </a:solidFill>
                <a:latin typeface="Segoe UI"/>
              </a:rPr>
              <a:t>   ·   NeoStats AI Engineer Use Case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2823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3504"/>
            <a:ext cx="82296" cy="5669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RISK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96112"/>
            <a:ext cx="10424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2800" b="1">
                <a:solidFill>
                  <a:srgbClr val="F4F7FB"/>
                </a:solidFill>
                <a:latin typeface="Segoe UI Light"/>
              </a:rPr>
              <a:t>A defensible number for every applicant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965960"/>
            <a:ext cx="4160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13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— </a:t>
            </a:r>
            <a:r>
              <a:rPr sz="1250" b="1">
                <a:solidFill>
                  <a:srgbClr val="F4F7FB"/>
                </a:solidFill>
                <a:latin typeface="Segoe UI"/>
              </a:rPr>
              <a:t>Two entry modes. </a:t>
            </a:r>
            <a:r>
              <a:rPr sz="1250">
                <a:solidFill>
                  <a:srgbClr val="94A3B8"/>
                </a:solidFill>
                <a:latin typeface="Segoe UI"/>
              </a:rPr>
              <a:t>sample a real applicant or enter one manually</a:t>
            </a:r>
          </a:p>
          <a:p>
            <a:pPr>
              <a:lnSpc>
                <a:spcPct val="114000"/>
              </a:lnSpc>
              <a:spcAft>
                <a:spcPts val="13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— </a:t>
            </a:r>
            <a:r>
              <a:rPr sz="1250" b="1">
                <a:solidFill>
                  <a:srgbClr val="F4F7FB"/>
                </a:solidFill>
                <a:latin typeface="Segoe UI"/>
              </a:rPr>
              <a:t>Calibrated gauge. </a:t>
            </a:r>
            <a:r>
              <a:rPr sz="1250">
                <a:solidFill>
                  <a:srgbClr val="94A3B8"/>
                </a:solidFill>
                <a:latin typeface="Segoe UI"/>
              </a:rPr>
              <a:t>probability shown as a real rate</a:t>
            </a:r>
          </a:p>
          <a:p>
            <a:pPr>
              <a:lnSpc>
                <a:spcPct val="114000"/>
              </a:lnSpc>
              <a:spcAft>
                <a:spcPts val="13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— </a:t>
            </a:r>
            <a:r>
              <a:rPr sz="1250" b="1">
                <a:solidFill>
                  <a:srgbClr val="F4F7FB"/>
                </a:solidFill>
                <a:latin typeface="Segoe UI"/>
              </a:rPr>
              <a:t>Risk band. </a:t>
            </a:r>
            <a:r>
              <a:rPr sz="1250">
                <a:solidFill>
                  <a:srgbClr val="94A3B8"/>
                </a:solidFill>
                <a:latin typeface="Segoe UI"/>
              </a:rPr>
              <a:t>Low / Medium / High with the driving attributes</a:t>
            </a:r>
          </a:p>
          <a:p>
            <a:pPr>
              <a:lnSpc>
                <a:spcPct val="114000"/>
              </a:lnSpc>
              <a:spcAft>
                <a:spcPts val="13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— </a:t>
            </a:r>
            <a:r>
              <a:rPr sz="1250" b="1">
                <a:solidFill>
                  <a:srgbClr val="F4F7FB"/>
                </a:solidFill>
                <a:latin typeface="Segoe UI"/>
              </a:rPr>
              <a:t>Hand-off. </a:t>
            </a:r>
            <a:r>
              <a:rPr sz="1250">
                <a:solidFill>
                  <a:srgbClr val="94A3B8"/>
                </a:solidFill>
                <a:latin typeface="Segoe UI"/>
              </a:rPr>
              <a:t>the scored applicant flows into Explainability and Rules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02936" y="1819655"/>
            <a:ext cx="6419088" cy="3111815"/>
          </a:xfrm>
          <a:prstGeom prst="roundRect">
            <a:avLst>
              <a:gd name="adj" fmla="val 3000"/>
            </a:avLst>
          </a:prstGeom>
          <a:solidFill>
            <a:srgbClr val="121B2D"/>
          </a:solidFill>
          <a:ln w="12700">
            <a:solidFill>
              <a:srgbClr val="24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874519"/>
            <a:ext cx="6309360" cy="3002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" y="642823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Credit Risk Intelligence Platform</a:t>
            </a:r>
            <a:r>
              <a:rPr sz="900" b="0">
                <a:solidFill>
                  <a:srgbClr val="64748B"/>
                </a:solidFill>
                <a:latin typeface="Segoe UI"/>
              </a:rPr>
              <a:t>   ·   NeoStats AI Engineer Use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2823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3504"/>
            <a:ext cx="82296" cy="5669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EXPLAINABLE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96112"/>
            <a:ext cx="10424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2800" b="1">
                <a:solidFill>
                  <a:srgbClr val="F4F7FB"/>
                </a:solidFill>
                <a:latin typeface="Segoe UI Light"/>
              </a:rPr>
              <a:t>Every score ships with its reasons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965960"/>
            <a:ext cx="4160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13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— </a:t>
            </a:r>
            <a:r>
              <a:rPr sz="1250" b="1">
                <a:solidFill>
                  <a:srgbClr val="F4F7FB"/>
                </a:solidFill>
                <a:latin typeface="Segoe UI"/>
              </a:rPr>
              <a:t>SHAP TreeExplainer </a:t>
            </a:r>
            <a:r>
              <a:rPr sz="1250">
                <a:solidFill>
                  <a:srgbClr val="94A3B8"/>
                </a:solidFill>
                <a:latin typeface="Segoe UI"/>
              </a:rPr>
              <a:t>on the LightGBM model — exact, fast</a:t>
            </a:r>
          </a:p>
          <a:p>
            <a:pPr>
              <a:lnSpc>
                <a:spcPct val="114000"/>
              </a:lnSpc>
              <a:spcAft>
                <a:spcPts val="13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— </a:t>
            </a:r>
            <a:r>
              <a:rPr sz="1250" b="1">
                <a:solidFill>
                  <a:srgbClr val="F4F7FB"/>
                </a:solidFill>
                <a:latin typeface="Segoe UI"/>
              </a:rPr>
              <a:t>Local view. </a:t>
            </a:r>
            <a:r>
              <a:rPr sz="1250">
                <a:solidFill>
                  <a:srgbClr val="94A3B8"/>
                </a:solidFill>
                <a:latin typeface="Segoe UI"/>
              </a:rPr>
              <a:t>signed per-applicant contributions; red raises risk, blue lowers it</a:t>
            </a:r>
          </a:p>
          <a:p>
            <a:pPr>
              <a:lnSpc>
                <a:spcPct val="114000"/>
              </a:lnSpc>
              <a:spcAft>
                <a:spcPts val="13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— </a:t>
            </a:r>
            <a:r>
              <a:rPr sz="1250" b="1">
                <a:solidFill>
                  <a:srgbClr val="F4F7FB"/>
                </a:solidFill>
                <a:latin typeface="Segoe UI"/>
              </a:rPr>
              <a:t>Global view. </a:t>
            </a:r>
            <a:r>
              <a:rPr sz="1250">
                <a:solidFill>
                  <a:srgbClr val="94A3B8"/>
                </a:solidFill>
                <a:latin typeface="Segoe UI"/>
              </a:rPr>
              <a:t>mean-|SHAP| over a 1,000-applicant sample</a:t>
            </a:r>
          </a:p>
          <a:p>
            <a:pPr>
              <a:lnSpc>
                <a:spcPct val="114000"/>
              </a:lnSpc>
              <a:spcAft>
                <a:spcPts val="13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— </a:t>
            </a:r>
            <a:r>
              <a:rPr sz="1250" b="1">
                <a:solidFill>
                  <a:srgbClr val="F4F7FB"/>
                </a:solidFill>
                <a:latin typeface="Segoe UI"/>
              </a:rPr>
              <a:t>EXT_SOURCE features </a:t>
            </a:r>
            <a:r>
              <a:rPr sz="1250">
                <a:solidFill>
                  <a:srgbClr val="94A3B8"/>
                </a:solidFill>
                <a:latin typeface="Segoe UI"/>
              </a:rPr>
              <a:t>dominate both local and global rankings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02936" y="1819655"/>
            <a:ext cx="6419088" cy="3113076"/>
          </a:xfrm>
          <a:prstGeom prst="roundRect">
            <a:avLst>
              <a:gd name="adj" fmla="val 3000"/>
            </a:avLst>
          </a:prstGeom>
          <a:solidFill>
            <a:srgbClr val="121B2D"/>
          </a:solidFill>
          <a:ln w="12700">
            <a:solidFill>
              <a:srgbClr val="24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874519"/>
            <a:ext cx="6309360" cy="30033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" y="642823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Credit Risk Intelligence Platform</a:t>
            </a:r>
            <a:r>
              <a:rPr sz="900" b="0">
                <a:solidFill>
                  <a:srgbClr val="64748B"/>
                </a:solidFill>
                <a:latin typeface="Segoe UI"/>
              </a:rPr>
              <a:t>   ·   NeoStats AI Engineer Use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2823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3504"/>
            <a:ext cx="82296" cy="5669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MODEL →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96112"/>
            <a:ext cx="10424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2700" b="1">
                <a:solidFill>
                  <a:srgbClr val="F4F7FB"/>
                </a:solidFill>
                <a:latin typeface="Segoe UI Light"/>
              </a:rPr>
              <a:t>A human-readable approximation of 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965960"/>
            <a:ext cx="4160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13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— </a:t>
            </a:r>
            <a:r>
              <a:rPr sz="1250" b="1">
                <a:solidFill>
                  <a:srgbClr val="F4F7FB"/>
                </a:solidFill>
                <a:latin typeface="Segoe UI"/>
              </a:rPr>
              <a:t>Surrogate tree. </a:t>
            </a:r>
            <a:r>
              <a:rPr sz="1250">
                <a:solidFill>
                  <a:srgbClr val="94A3B8"/>
                </a:solidFill>
                <a:latin typeface="Segoe UI"/>
              </a:rPr>
              <a:t>depth ≤ 3, trained to mimic the champion</a:t>
            </a:r>
          </a:p>
          <a:p>
            <a:pPr>
              <a:lnSpc>
                <a:spcPct val="114000"/>
              </a:lnSpc>
              <a:spcAft>
                <a:spcPts val="13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— </a:t>
            </a:r>
            <a:r>
              <a:rPr sz="1250" b="1">
                <a:solidFill>
                  <a:srgbClr val="F4F7FB"/>
                </a:solidFill>
                <a:latin typeface="Segoe UI"/>
              </a:rPr>
              <a:t>Each leaf </a:t>
            </a:r>
            <a:r>
              <a:rPr sz="1250">
                <a:solidFill>
                  <a:srgbClr val="94A3B8"/>
                </a:solidFill>
                <a:latin typeface="Segoe UI"/>
              </a:rPr>
              <a:t>is an IF / AND rule with its observed default rate (2.4% → 34.1%)</a:t>
            </a:r>
          </a:p>
          <a:p>
            <a:pPr>
              <a:lnSpc>
                <a:spcPct val="114000"/>
              </a:lnSpc>
              <a:spcAft>
                <a:spcPts val="13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— </a:t>
            </a:r>
            <a:r>
              <a:rPr sz="1250" b="1">
                <a:solidFill>
                  <a:srgbClr val="F4F7FB"/>
                </a:solidFill>
                <a:latin typeface="Segoe UI"/>
              </a:rPr>
              <a:t>Companion table. </a:t>
            </a:r>
            <a:r>
              <a:rPr sz="1250">
                <a:solidFill>
                  <a:srgbClr val="94A3B8"/>
                </a:solidFill>
                <a:latin typeface="Segoe UI"/>
              </a:rPr>
              <a:t>observed default rate per EXT_SOURCE band vs real labels</a:t>
            </a:r>
          </a:p>
          <a:p>
            <a:pPr>
              <a:lnSpc>
                <a:spcPct val="114000"/>
              </a:lnSpc>
              <a:spcAft>
                <a:spcPts val="13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— </a:t>
            </a:r>
            <a:r>
              <a:rPr sz="1250" b="1">
                <a:solidFill>
                  <a:srgbClr val="F4F7FB"/>
                </a:solidFill>
                <a:latin typeface="Segoe UI"/>
              </a:rPr>
              <a:t>Decision support, </a:t>
            </a:r>
            <a:r>
              <a:rPr sz="1250">
                <a:solidFill>
                  <a:srgbClr val="94A3B8"/>
                </a:solidFill>
                <a:latin typeface="Segoe UI"/>
              </a:rPr>
              <a:t>explicitly not lending policy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02936" y="1819655"/>
            <a:ext cx="6419088" cy="3119728"/>
          </a:xfrm>
          <a:prstGeom prst="roundRect">
            <a:avLst>
              <a:gd name="adj" fmla="val 3000"/>
            </a:avLst>
          </a:prstGeom>
          <a:solidFill>
            <a:srgbClr val="121B2D"/>
          </a:solidFill>
          <a:ln w="12700">
            <a:solidFill>
              <a:srgbClr val="24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874519"/>
            <a:ext cx="6309360" cy="301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" y="642823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Credit Risk Intelligence Platform</a:t>
            </a:r>
            <a:r>
              <a:rPr sz="900" b="0">
                <a:solidFill>
                  <a:srgbClr val="64748B"/>
                </a:solidFill>
                <a:latin typeface="Segoe UI"/>
              </a:rPr>
              <a:t>   ·   NeoStats AI Engineer Use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2823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3504"/>
            <a:ext cx="82296" cy="5669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NATURAL LANGUAGE →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96112"/>
            <a:ext cx="10424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2800" b="1">
                <a:solidFill>
                  <a:srgbClr val="F4F7FB"/>
                </a:solidFill>
                <a:latin typeface="Segoe UI Light"/>
              </a:rPr>
              <a:t>Ask the applicant data in plain English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965960"/>
            <a:ext cx="4160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1200"/>
              </a:spcAft>
            </a:pPr>
            <a:r>
              <a:rPr sz="1200" b="1">
                <a:solidFill>
                  <a:srgbClr val="3B82F6"/>
                </a:solidFill>
                <a:latin typeface="Segoe UI"/>
              </a:rPr>
              <a:t>— </a:t>
            </a:r>
            <a:r>
              <a:rPr sz="1200" b="1">
                <a:solidFill>
                  <a:srgbClr val="F4F7FB"/>
                </a:solidFill>
                <a:latin typeface="Segoe UI"/>
              </a:rPr>
              <a:t>Schema-grounded prompt </a:t>
            </a:r>
            <a:r>
              <a:rPr sz="1200">
                <a:solidFill>
                  <a:srgbClr val="94A3B8"/>
                </a:solidFill>
                <a:latin typeface="Segoe UI"/>
              </a:rPr>
              <a:t>→ Gemini generates SQL</a:t>
            </a:r>
          </a:p>
          <a:p>
            <a:pPr>
              <a:lnSpc>
                <a:spcPct val="114000"/>
              </a:lnSpc>
              <a:spcAft>
                <a:spcPts val="1200"/>
              </a:spcAft>
            </a:pPr>
            <a:r>
              <a:rPr sz="1200" b="1">
                <a:solidFill>
                  <a:srgbClr val="3B82F6"/>
                </a:solidFill>
                <a:latin typeface="Segoe UI"/>
              </a:rPr>
              <a:t>— </a:t>
            </a:r>
            <a:r>
              <a:rPr sz="1200" b="1">
                <a:solidFill>
                  <a:srgbClr val="F4F7FB"/>
                </a:solidFill>
                <a:latin typeface="Segoe UI"/>
              </a:rPr>
              <a:t>Read-only validator. </a:t>
            </a:r>
            <a:r>
              <a:rPr sz="1200">
                <a:solidFill>
                  <a:srgbClr val="94A3B8"/>
                </a:solidFill>
                <a:latin typeface="Segoe UI"/>
              </a:rPr>
              <a:t>DROP / DELETE / UPDATE / INSERT / ALTER rejected; approved tables only; row cap</a:t>
            </a:r>
          </a:p>
          <a:p>
            <a:pPr>
              <a:lnSpc>
                <a:spcPct val="114000"/>
              </a:lnSpc>
              <a:spcAft>
                <a:spcPts val="1200"/>
              </a:spcAft>
            </a:pPr>
            <a:r>
              <a:rPr sz="1200" b="1">
                <a:solidFill>
                  <a:srgbClr val="3B82F6"/>
                </a:solidFill>
                <a:latin typeface="Segoe UI"/>
              </a:rPr>
              <a:t>— </a:t>
            </a:r>
            <a:r>
              <a:rPr sz="1200" b="1">
                <a:solidFill>
                  <a:srgbClr val="F4F7FB"/>
                </a:solidFill>
                <a:latin typeface="Segoe UI"/>
              </a:rPr>
              <a:t>Pre-verified templates </a:t>
            </a:r>
            <a:r>
              <a:rPr sz="1200">
                <a:solidFill>
                  <a:srgbClr val="94A3B8"/>
                </a:solidFill>
                <a:latin typeface="Segoe UI"/>
              </a:rPr>
              <a:t>answer common questions with no LLM call</a:t>
            </a:r>
          </a:p>
          <a:p>
            <a:pPr>
              <a:lnSpc>
                <a:spcPct val="114000"/>
              </a:lnSpc>
              <a:spcAft>
                <a:spcPts val="1200"/>
              </a:spcAft>
            </a:pPr>
            <a:r>
              <a:rPr sz="1200" b="1">
                <a:solidFill>
                  <a:srgbClr val="3B82F6"/>
                </a:solidFill>
                <a:latin typeface="Segoe UI"/>
              </a:rPr>
              <a:t>— </a:t>
            </a:r>
            <a:r>
              <a:rPr sz="1200" b="1">
                <a:solidFill>
                  <a:srgbClr val="F4F7FB"/>
                </a:solidFill>
                <a:latin typeface="Segoe UI"/>
              </a:rPr>
              <a:t>Transparency. </a:t>
            </a:r>
            <a:r>
              <a:rPr sz="1200">
                <a:solidFill>
                  <a:srgbClr val="94A3B8"/>
                </a:solidFill>
                <a:latin typeface="Segoe UI"/>
              </a:rPr>
              <a:t>generated SQL + result table always shown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02936" y="1819655"/>
            <a:ext cx="6419088" cy="3041920"/>
          </a:xfrm>
          <a:prstGeom prst="roundRect">
            <a:avLst>
              <a:gd name="adj" fmla="val 3000"/>
            </a:avLst>
          </a:prstGeom>
          <a:solidFill>
            <a:srgbClr val="121B2D"/>
          </a:solidFill>
          <a:ln w="12700">
            <a:solidFill>
              <a:srgbClr val="24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5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874519"/>
            <a:ext cx="6309360" cy="29321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" y="642823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Credit Risk Intelligence Platform</a:t>
            </a:r>
            <a:r>
              <a:rPr sz="900" b="0">
                <a:solidFill>
                  <a:srgbClr val="64748B"/>
                </a:solidFill>
                <a:latin typeface="Segoe UI"/>
              </a:rPr>
              <a:t>   ·   NeoStats AI Engineer Use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2823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3504"/>
            <a:ext cx="82296" cy="5669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HONEST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96112"/>
            <a:ext cx="10424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3300" b="1">
                <a:solidFill>
                  <a:srgbClr val="F4F7FB"/>
                </a:solidFill>
                <a:latin typeface="Segoe UI Light"/>
              </a:rPr>
              <a:t>Limitations &amp; what's next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28800"/>
            <a:ext cx="5120640" cy="420624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4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48256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>
                <a:solidFill>
                  <a:srgbClr val="F97316"/>
                </a:solidFill>
                <a:latin typeface="Segoe UI"/>
              </a:rPr>
              <a:t>CURRENT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505456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700"/>
              </a:spcAft>
            </a:pPr>
            <a:r>
              <a:rPr sz="1150" b="1">
                <a:solidFill>
                  <a:srgbClr val="3B82F6"/>
                </a:solidFill>
                <a:latin typeface="Segoe UI"/>
              </a:rPr>
              <a:t>— </a:t>
            </a:r>
            <a:r>
              <a:rPr sz="1150">
                <a:solidFill>
                  <a:srgbClr val="94A3B8"/>
                </a:solidFill>
                <a:latin typeface="Segoe UI"/>
              </a:rPr>
              <a:t>Application table only — no bureau / previous-loan aggregates</a:t>
            </a:r>
          </a:p>
          <a:p>
            <a:pPr>
              <a:lnSpc>
                <a:spcPct val="114000"/>
              </a:lnSpc>
              <a:spcAft>
                <a:spcPts val="700"/>
              </a:spcAft>
            </a:pPr>
            <a:r>
              <a:rPr sz="1150" b="1">
                <a:solidFill>
                  <a:srgbClr val="3B82F6"/>
                </a:solidFill>
                <a:latin typeface="Segoe UI"/>
              </a:rPr>
              <a:t>— </a:t>
            </a:r>
            <a:r>
              <a:rPr sz="1150">
                <a:solidFill>
                  <a:srgbClr val="94A3B8"/>
                </a:solidFill>
                <a:latin typeface="Segoe UI"/>
              </a:rPr>
              <a:t>Calibration uses the evaluation fold</a:t>
            </a:r>
          </a:p>
          <a:p>
            <a:pPr>
              <a:lnSpc>
                <a:spcPct val="114000"/>
              </a:lnSpc>
              <a:spcAft>
                <a:spcPts val="700"/>
              </a:spcAft>
            </a:pPr>
            <a:r>
              <a:rPr sz="1150" b="1">
                <a:solidFill>
                  <a:srgbClr val="3B82F6"/>
                </a:solidFill>
                <a:latin typeface="Segoe UI"/>
              </a:rPr>
              <a:t>— </a:t>
            </a:r>
            <a:r>
              <a:rPr sz="1150">
                <a:solidFill>
                  <a:srgbClr val="94A3B8"/>
                </a:solidFill>
                <a:latin typeface="Segoe UI"/>
              </a:rPr>
              <a:t>Hyperparameter search intentionally limited</a:t>
            </a:r>
          </a:p>
          <a:p>
            <a:pPr>
              <a:lnSpc>
                <a:spcPct val="114000"/>
              </a:lnSpc>
              <a:spcAft>
                <a:spcPts val="700"/>
              </a:spcAft>
            </a:pPr>
            <a:r>
              <a:rPr sz="1150" b="1">
                <a:solidFill>
                  <a:srgbClr val="3B82F6"/>
                </a:solidFill>
                <a:latin typeface="Segoe UI"/>
              </a:rPr>
              <a:t>— </a:t>
            </a:r>
            <a:r>
              <a:rPr sz="1150">
                <a:solidFill>
                  <a:srgbClr val="94A3B8"/>
                </a:solidFill>
                <a:latin typeface="Segoe UI"/>
              </a:rPr>
              <a:t>Free-form NL → SQL needs an external API key</a:t>
            </a:r>
          </a:p>
          <a:p>
            <a:pPr>
              <a:lnSpc>
                <a:spcPct val="114000"/>
              </a:lnSpc>
              <a:spcAft>
                <a:spcPts val="700"/>
              </a:spcAft>
            </a:pPr>
            <a:r>
              <a:rPr sz="1150" b="1">
                <a:solidFill>
                  <a:srgbClr val="3B82F6"/>
                </a:solidFill>
                <a:latin typeface="Segoe UI"/>
              </a:rPr>
              <a:t>— </a:t>
            </a:r>
            <a:r>
              <a:rPr sz="1150">
                <a:solidFill>
                  <a:srgbClr val="94A3B8"/>
                </a:solidFill>
                <a:latin typeface="Segoe UI"/>
              </a:rPr>
              <a:t>Rules approximate the model — not formal policy</a:t>
            </a:r>
          </a:p>
          <a:p>
            <a:pPr>
              <a:lnSpc>
                <a:spcPct val="114000"/>
              </a:lnSpc>
              <a:spcAft>
                <a:spcPts val="700"/>
              </a:spcAft>
            </a:pPr>
            <a:r>
              <a:rPr sz="1150" b="1">
                <a:solidFill>
                  <a:srgbClr val="3B82F6"/>
                </a:solidFill>
                <a:latin typeface="Segoe UI"/>
              </a:rPr>
              <a:t>— </a:t>
            </a:r>
            <a:r>
              <a:rPr sz="1150">
                <a:solidFill>
                  <a:srgbClr val="94A3B8"/>
                </a:solidFill>
                <a:latin typeface="Segoe UI"/>
              </a:rPr>
              <a:t>No fairness audit or production banking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3912" y="1828800"/>
            <a:ext cx="5120640" cy="420624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4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2048256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>
                <a:solidFill>
                  <a:srgbClr val="34D399"/>
                </a:solidFill>
                <a:latin typeface="Segoe UI"/>
              </a:rPr>
              <a:t>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505456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700"/>
              </a:spcAft>
            </a:pPr>
            <a:r>
              <a:rPr sz="1150" b="1">
                <a:solidFill>
                  <a:srgbClr val="3B82F6"/>
                </a:solidFill>
                <a:latin typeface="Segoe UI"/>
              </a:rPr>
              <a:t>— </a:t>
            </a:r>
            <a:r>
              <a:rPr sz="1150">
                <a:solidFill>
                  <a:srgbClr val="94A3B8"/>
                </a:solidFill>
                <a:latin typeface="Segoe UI"/>
              </a:rPr>
              <a:t>Aggregate bureau &amp; previous-application history into features</a:t>
            </a:r>
          </a:p>
          <a:p>
            <a:pPr>
              <a:lnSpc>
                <a:spcPct val="114000"/>
              </a:lnSpc>
              <a:spcAft>
                <a:spcPts val="700"/>
              </a:spcAft>
            </a:pPr>
            <a:r>
              <a:rPr sz="1150" b="1">
                <a:solidFill>
                  <a:srgbClr val="3B82F6"/>
                </a:solidFill>
                <a:latin typeface="Segoe UI"/>
              </a:rPr>
              <a:t>— </a:t>
            </a:r>
            <a:r>
              <a:rPr sz="1150">
                <a:solidFill>
                  <a:srgbClr val="94A3B8"/>
                </a:solidFill>
                <a:latin typeface="Segoe UI"/>
              </a:rPr>
              <a:t>Automated hyperparameter optimization</a:t>
            </a:r>
          </a:p>
          <a:p>
            <a:pPr>
              <a:lnSpc>
                <a:spcPct val="114000"/>
              </a:lnSpc>
              <a:spcAft>
                <a:spcPts val="700"/>
              </a:spcAft>
            </a:pPr>
            <a:r>
              <a:rPr sz="1150" b="1">
                <a:solidFill>
                  <a:srgbClr val="3B82F6"/>
                </a:solidFill>
                <a:latin typeface="Segoe UI"/>
              </a:rPr>
              <a:t>— </a:t>
            </a:r>
            <a:r>
              <a:rPr sz="1150">
                <a:solidFill>
                  <a:srgbClr val="94A3B8"/>
                </a:solidFill>
                <a:latin typeface="Segoe UI"/>
              </a:rPr>
              <a:t>Dedicated train / calibration / test splits</a:t>
            </a:r>
          </a:p>
          <a:p>
            <a:pPr>
              <a:lnSpc>
                <a:spcPct val="114000"/>
              </a:lnSpc>
              <a:spcAft>
                <a:spcPts val="700"/>
              </a:spcAft>
            </a:pPr>
            <a:r>
              <a:rPr sz="1150" b="1">
                <a:solidFill>
                  <a:srgbClr val="3B82F6"/>
                </a:solidFill>
                <a:latin typeface="Segoe UI"/>
              </a:rPr>
              <a:t>— </a:t>
            </a:r>
            <a:r>
              <a:rPr sz="1150">
                <a:solidFill>
                  <a:srgbClr val="94A3B8"/>
                </a:solidFill>
                <a:latin typeface="Segoe UI"/>
              </a:rPr>
              <a:t>Model-drift monitoring</a:t>
            </a:r>
          </a:p>
          <a:p>
            <a:pPr>
              <a:lnSpc>
                <a:spcPct val="114000"/>
              </a:lnSpc>
              <a:spcAft>
                <a:spcPts val="700"/>
              </a:spcAft>
            </a:pPr>
            <a:r>
              <a:rPr sz="1150" b="1">
                <a:solidFill>
                  <a:srgbClr val="3B82F6"/>
                </a:solidFill>
                <a:latin typeface="Segoe UI"/>
              </a:rPr>
              <a:t>— </a:t>
            </a:r>
            <a:r>
              <a:rPr sz="1150">
                <a:solidFill>
                  <a:srgbClr val="94A3B8"/>
                </a:solidFill>
                <a:latin typeface="Segoe UI"/>
              </a:rPr>
              <a:t>Fairness &amp; bias evaluation</a:t>
            </a:r>
          </a:p>
          <a:p>
            <a:pPr>
              <a:lnSpc>
                <a:spcPct val="114000"/>
              </a:lnSpc>
              <a:spcAft>
                <a:spcPts val="700"/>
              </a:spcAft>
            </a:pPr>
            <a:r>
              <a:rPr sz="1150" b="1">
                <a:solidFill>
                  <a:srgbClr val="3B82F6"/>
                </a:solidFill>
                <a:latin typeface="Segoe UI"/>
              </a:rPr>
              <a:t>— </a:t>
            </a:r>
            <a:r>
              <a:rPr sz="1150">
                <a:solidFill>
                  <a:srgbClr val="94A3B8"/>
                </a:solidFill>
                <a:latin typeface="Segoe UI"/>
              </a:rPr>
              <a:t>API inference service with 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642823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Credit Risk Intelligence Platform</a:t>
            </a:r>
            <a:r>
              <a:rPr sz="900" b="0">
                <a:solidFill>
                  <a:srgbClr val="64748B"/>
                </a:solidFill>
                <a:latin typeface="Segoe UI"/>
              </a:rPr>
              <a:t>   ·   NeoStats AI Engineer Use 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2823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03504"/>
            <a:ext cx="82296" cy="5669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3B82F6"/>
                </a:solidFill>
                <a:latin typeface="Segoe U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96112"/>
            <a:ext cx="10424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3300" b="1">
                <a:solidFill>
                  <a:srgbClr val="F4F7FB"/>
                </a:solidFill>
                <a:latin typeface="Segoe UI Light"/>
              </a:rPr>
              <a:t>Built with a lean, reproducible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74519"/>
            <a:ext cx="6583680" cy="466344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4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47672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>
                <a:solidFill>
                  <a:srgbClr val="94A3B8"/>
                </a:solidFill>
                <a:latin typeface="Segoe UI"/>
              </a:rPr>
              <a:t>Data 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94767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F4F7FB"/>
                </a:solidFill>
                <a:latin typeface="Segoe UI"/>
              </a:rPr>
              <a:t>Python · Pandas · NumPy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423160"/>
            <a:ext cx="6583680" cy="466344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4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96312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>
                <a:solidFill>
                  <a:srgbClr val="94A3B8"/>
                </a:solidFill>
                <a:latin typeface="Segoe UI"/>
              </a:rPr>
              <a:t>Analytical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49631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F4F7FB"/>
                </a:solidFill>
                <a:latin typeface="Segoe UI"/>
              </a:rPr>
              <a:t>DuckDB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971800"/>
            <a:ext cx="6583680" cy="466344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4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44952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>
                <a:solidFill>
                  <a:srgbClr val="94A3B8"/>
                </a:solidFill>
                <a:latin typeface="Segoe UI"/>
              </a:rPr>
              <a:t>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04495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F4F7FB"/>
                </a:solidFill>
                <a:latin typeface="Segoe UI"/>
              </a:rPr>
              <a:t>scikit-learn · LightGBM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520439"/>
            <a:ext cx="6583680" cy="466344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4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593591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>
                <a:solidFill>
                  <a:srgbClr val="94A3B8"/>
                </a:solidFill>
                <a:latin typeface="Segoe UI"/>
              </a:rPr>
              <a:t>Explainability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593591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F4F7FB"/>
                </a:solidFill>
                <a:latin typeface="Segoe UI"/>
              </a:rPr>
              <a:t>SHAP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069079"/>
            <a:ext cx="6583680" cy="466344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4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142231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>
                <a:solidFill>
                  <a:srgbClr val="94A3B8"/>
                </a:solidFill>
                <a:latin typeface="Segoe UI"/>
              </a:rPr>
              <a:t>LLM · SQL safety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142231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F4F7FB"/>
                </a:solidFill>
                <a:latin typeface="Segoe UI"/>
              </a:rPr>
              <a:t>Google Gemini · sqlparse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4617720"/>
            <a:ext cx="6583680" cy="466344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4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690872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>
                <a:solidFill>
                  <a:srgbClr val="94A3B8"/>
                </a:solidFill>
                <a:latin typeface="Segoe UI"/>
              </a:rPr>
              <a:t>UI · visualization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69087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F4F7FB"/>
                </a:solidFill>
                <a:latin typeface="Segoe UI"/>
              </a:rPr>
              <a:t>Streamlit · Plotly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5166359"/>
            <a:ext cx="6583680" cy="466344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4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239512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>
                <a:solidFill>
                  <a:srgbClr val="94A3B8"/>
                </a:solidFill>
                <a:latin typeface="Segoe UI"/>
              </a:rPr>
              <a:t>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523951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F4F7FB"/>
                </a:solidFill>
                <a:latin typeface="Segoe UI"/>
              </a:rPr>
              <a:t>Docker · Docker Compose · Streamlit Community Cloud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1874519"/>
            <a:ext cx="3520440" cy="3639312"/>
          </a:xfrm>
          <a:prstGeom prst="roundRect">
            <a:avLst>
              <a:gd name="adj" fmla="val 6000"/>
            </a:avLst>
          </a:prstGeom>
          <a:solidFill>
            <a:srgbClr val="162136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214884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3B82F6"/>
                </a:solidFill>
                <a:latin typeface="Segoe UI"/>
              </a:rPr>
              <a:t>IN ONE 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2651760"/>
            <a:ext cx="30175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300" b="0">
                <a:solidFill>
                  <a:srgbClr val="F4F7FB"/>
                </a:solidFill>
                <a:latin typeface="Segoe UI"/>
              </a:rPr>
              <a:t>Data → EDA → feature engineering → calibrated ML → explainability → business rules → NL-to-SQL → UI → Docker.</a:t>
            </a:r>
          </a:p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600" b="0">
                <a:solidFill>
                  <a:srgbClr val="F4F7FB"/>
                </a:solidFill>
                <a:latin typeface="Segoe UI"/>
              </a:rPr>
              <a:t/>
            </a:r>
          </a:p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The full AI-engineering lifecycle in one app.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642823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Credit Risk Intelligence Platform</a:t>
            </a:r>
            <a:r>
              <a:rPr sz="900" b="0">
                <a:solidFill>
                  <a:srgbClr val="64748B"/>
                </a:solidFill>
                <a:latin typeface="Segoe UI"/>
              </a:rPr>
              <a:t>   ·   NeoStats AI Engineer Use Case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2823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0972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Segoe UI"/>
              </a:rPr>
              <a:t>LIVE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6459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>
                <a:solidFill>
                  <a:srgbClr val="F4F7FB"/>
                </a:solidFill>
                <a:latin typeface="Segoe UI Light"/>
              </a:rPr>
              <a:t>Try the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788920"/>
            <a:ext cx="10515600" cy="1234440"/>
          </a:xfrm>
          <a:prstGeom prst="roundRect">
            <a:avLst>
              <a:gd name="adj" fmla="val 10000"/>
            </a:avLst>
          </a:prstGeom>
          <a:solidFill>
            <a:srgbClr val="121B2D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1272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900" b="1">
                <a:solidFill>
                  <a:srgbClr val="38BDF8"/>
                </a:solidFill>
                <a:latin typeface="Segoe UI"/>
              </a:rPr>
              <a:t>https://ai-credit-risk-intelligence-platform.streamlit.app/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343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Deployed on Streamlit Community Cloud  ·  committed champion model  ·  schema-accurate synthetic fallback dataset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5029200"/>
            <a:ext cx="10515600" cy="868680"/>
          </a:xfrm>
          <a:prstGeom prst="roundRect">
            <a:avLst>
              <a:gd name="adj" fmla="val 10000"/>
            </a:avLst>
          </a:prstGeom>
          <a:solidFill>
            <a:srgbClr val="162136"/>
          </a:solidFill>
          <a:ln w="12700">
            <a:solidFill>
              <a:srgbClr val="2431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513892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64748B"/>
                </a:solidFill>
                <a:latin typeface="Segoe UI"/>
              </a:rPr>
              <a:t>Source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3949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F4F7FB"/>
                </a:solidFill>
                <a:latin typeface="Segoe UI"/>
              </a:rPr>
              <a:t>github.com/jinishar/credit_risk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6263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Jinisha Leema Rosario  ·  NeoStats AI Engineer Use Case Assignment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